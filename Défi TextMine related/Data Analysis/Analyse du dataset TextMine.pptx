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Open Sans" charset="1" panose="00000000000000000000"/>
      <p:regular r:id="rId20"/>
    </p:embeddedFont>
    <p:embeddedFont>
      <p:font typeface="Open Sa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393156" y="3023368"/>
            <a:ext cx="13501688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30"/>
              </a:lnSpc>
            </a:pPr>
            <a:r>
              <a:rPr lang="en-US" b="true" sz="7312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Analyse du Corpus SNCF </a:t>
            </a:r>
            <a:r>
              <a:rPr lang="en-US" b="true" sz="7312">
                <a:solidFill>
                  <a:srgbClr val="CD003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(TextMine)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4625" y="5518918"/>
            <a:ext cx="12858750" cy="1287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Rétro-ingénierie des données pour la construction du Benchmark RAG (Attribution)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8575" y="0"/>
            <a:ext cx="18288000" cy="10287000"/>
            <a:chOff x="0" y="0"/>
            <a:chExt cx="24384000" cy="13716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1743075"/>
            <a:ext cx="16573500" cy="42862"/>
            <a:chOff x="0" y="0"/>
            <a:chExt cx="22098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CD003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4888615"/>
            <a:ext cx="185738" cy="300038"/>
            <a:chOff x="0" y="0"/>
            <a:chExt cx="24765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364" y="6197350"/>
            <a:ext cx="185738" cy="300038"/>
            <a:chOff x="0" y="0"/>
            <a:chExt cx="247650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7991860"/>
            <a:ext cx="185738" cy="300038"/>
            <a:chOff x="0" y="0"/>
            <a:chExt cx="247650" cy="400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015641" y="3850249"/>
            <a:ext cx="12317898" cy="3741561"/>
          </a:xfrm>
          <a:custGeom>
            <a:avLst/>
            <a:gdLst/>
            <a:ahLst/>
            <a:cxnLst/>
            <a:rect r="r" b="b" t="t" l="l"/>
            <a:pathLst>
              <a:path h="3741561" w="12317898">
                <a:moveTo>
                  <a:pt x="0" y="0"/>
                </a:moveTo>
                <a:lnTo>
                  <a:pt x="12317898" y="0"/>
                </a:lnTo>
                <a:lnTo>
                  <a:pt x="12317898" y="3741561"/>
                </a:lnTo>
                <a:lnTo>
                  <a:pt x="0" y="37415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7250" y="2912269"/>
            <a:ext cx="7929562" cy="157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 dataset n'est pas prêt pour l'évaluation. Il présente de sévères problèmes liés à l'extraction aveugle de fichiers PDF et de bases de données hétérogènes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9744" y="4736215"/>
            <a:ext cx="7501052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Carac</a:t>
            </a: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tères de contrôle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Présence de codes _x0001_ dus à une mauvaise interprétation du formatage PDF.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104" y="7839460"/>
            <a:ext cx="7500938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Bal</a:t>
            </a: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ises HTML 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Héritage d'un web-scraping ou d'exports de glossaires internes (balises &lt;span&gt;).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" y="857250"/>
            <a:ext cx="1740217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Art</a:t>
            </a:r>
            <a:r>
              <a:rPr lang="en-US" b="true" sz="4725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efacts d'Extraction et de Parsing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5989" y="6016375"/>
            <a:ext cx="7501052" cy="157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Tabl</a:t>
            </a: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eaux aplatis 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Les colonnes de données (ex: vitesses limites) sont concaténées sans espaces, détruisant la sémantique.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8575" y="0"/>
            <a:ext cx="18288000" cy="10287000"/>
            <a:chOff x="0" y="0"/>
            <a:chExt cx="24384000" cy="13716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1743075"/>
            <a:ext cx="16573500" cy="42862"/>
            <a:chOff x="0" y="0"/>
            <a:chExt cx="22098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CD003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479" y="4561658"/>
            <a:ext cx="185738" cy="300038"/>
            <a:chOff x="0" y="0"/>
            <a:chExt cx="24765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593" y="5870393"/>
            <a:ext cx="185738" cy="300038"/>
            <a:chOff x="0" y="0"/>
            <a:chExt cx="247650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7150553"/>
            <a:ext cx="185738" cy="300038"/>
            <a:chOff x="0" y="0"/>
            <a:chExt cx="247650" cy="400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9516563"/>
            <a:ext cx="185738" cy="300038"/>
            <a:chOff x="0" y="0"/>
            <a:chExt cx="247650" cy="400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025395" y="3724959"/>
            <a:ext cx="11301259" cy="3432757"/>
          </a:xfrm>
          <a:custGeom>
            <a:avLst/>
            <a:gdLst/>
            <a:ahLst/>
            <a:cxnLst/>
            <a:rect r="r" b="b" t="t" l="l"/>
            <a:pathLst>
              <a:path h="3432757" w="11301259">
                <a:moveTo>
                  <a:pt x="0" y="0"/>
                </a:moveTo>
                <a:lnTo>
                  <a:pt x="11301259" y="0"/>
                </a:lnTo>
                <a:lnTo>
                  <a:pt x="11301259" y="3432757"/>
                </a:lnTo>
                <a:lnTo>
                  <a:pt x="0" y="3432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57479" y="2585312"/>
            <a:ext cx="7929562" cy="157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Au-d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elà du formatage, la logique même de la création des échantillons (samples) pose problème pour un système NLP 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989" y="4408827"/>
            <a:ext cx="7501052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Chunking bru</a:t>
            </a: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tal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: Les contextes sont coupés au milieu de mots ou de phrases.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6104" y="6998153"/>
            <a:ext cx="7500938" cy="211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</a:t>
            </a: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ions "Tout à Faux"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: Des échantillons où absolument toutes les définitions proposées sont étiquetées False, ou des contradictions liées à la casse (majuscules).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857250"/>
            <a:ext cx="17402175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Anomali</a:t>
            </a:r>
            <a:r>
              <a:rPr lang="en-US" b="true" sz="4725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 de Fenêtrage et de Labellisation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6218" y="5689418"/>
            <a:ext cx="7501052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</a:t>
            </a: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aux Positifs :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Le regex de détection ne respecte pas les frontières de mots (ex: trouve "OP" dans "OP14227").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989" y="9327016"/>
            <a:ext cx="8027254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Acrnoym non correspondant au text OU avec variations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86750" y="4139136"/>
            <a:ext cx="1714500" cy="85725"/>
            <a:chOff x="0" y="0"/>
            <a:chExt cx="22860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D00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615804" y="4643961"/>
            <a:ext cx="11056382" cy="105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6750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Cohérence du Contexte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0594" y="5782199"/>
            <a:ext cx="8786812" cy="79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2925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 la donnée fragmentée à la modélisation métier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8575" y="0"/>
            <a:ext cx="18288000" cy="10287000"/>
            <a:chOff x="0" y="0"/>
            <a:chExt cx="24384000" cy="13716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593181"/>
            <a:ext cx="8326041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b="true" sz="3375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L'approche réseau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3255169"/>
            <a:ext cx="7929562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L'analyse par chevauchement textuel a permis de prouver que les 492 segments ne sont pas indépendants, mais s'agglomèrent autour d'une quarantaine de documents sources.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5875" y="5441156"/>
            <a:ext cx="7501052" cy="105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Utilité RAG :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Éviter le découpage aléatoire qui casse le sens technique.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5875" y="6641306"/>
            <a:ext cx="750105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Reconstituer des "blocs de contexte" sémantiquement cohérents.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875" y="7841456"/>
            <a:ext cx="750093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Vérifier si le modèle NLI d'attribution est capable de lier une réponse à un paragraphe fonctionnel réel.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30941" y="3045728"/>
            <a:ext cx="8343061" cy="5996102"/>
            <a:chOff x="0" y="0"/>
            <a:chExt cx="10496550" cy="7543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96550" cy="7543800"/>
            </a:xfrm>
            <a:custGeom>
              <a:avLst/>
              <a:gdLst/>
              <a:ahLst/>
              <a:cxnLst/>
              <a:rect r="r" b="b" t="t" l="l"/>
              <a:pathLst>
                <a:path h="7543800" w="10496550">
                  <a:moveTo>
                    <a:pt x="0" y="0"/>
                  </a:moveTo>
                  <a:lnTo>
                    <a:pt x="10496550" y="0"/>
                  </a:lnTo>
                  <a:lnTo>
                    <a:pt x="10496550" y="7543800"/>
                  </a:lnTo>
                  <a:lnTo>
                    <a:pt x="0" y="7543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7550" r="-1" b="-756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57250" y="857250"/>
            <a:ext cx="17402175" cy="78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Reconstitution Documentaire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7250" y="1743075"/>
            <a:ext cx="16573500" cy="42862"/>
            <a:chOff x="0" y="0"/>
            <a:chExt cx="220980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CD003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5622131"/>
            <a:ext cx="185738" cy="300038"/>
            <a:chOff x="0" y="0"/>
            <a:chExt cx="247650" cy="4000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250" y="6822281"/>
            <a:ext cx="185738" cy="300038"/>
            <a:chOff x="0" y="0"/>
            <a:chExt cx="247650" cy="4000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8022431"/>
            <a:ext cx="185738" cy="300038"/>
            <a:chOff x="0" y="0"/>
            <a:chExt cx="247650" cy="4000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5799" y="8936946"/>
            <a:ext cx="7501052" cy="49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Ou utilisé ces blocs pour construire des query.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174" y="9117921"/>
            <a:ext cx="185738" cy="300038"/>
            <a:chOff x="0" y="0"/>
            <a:chExt cx="247650" cy="40005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743075"/>
            <a:ext cx="16573500" cy="42748"/>
            <a:chOff x="0" y="0"/>
            <a:chExt cx="22098000" cy="569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57023"/>
            </a:xfrm>
            <a:custGeom>
              <a:avLst/>
              <a:gdLst/>
              <a:ahLst/>
              <a:cxnLst/>
              <a:rect r="r" b="b" t="t" l="l"/>
              <a:pathLst>
                <a:path h="57023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023"/>
                  </a:lnTo>
                  <a:lnTo>
                    <a:pt x="0" y="57023"/>
                  </a:lnTo>
                  <a:close/>
                </a:path>
              </a:pathLst>
            </a:custGeom>
            <a:solidFill>
              <a:srgbClr val="CD0037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548332" y="2199231"/>
            <a:ext cx="12411216" cy="7400188"/>
          </a:xfrm>
          <a:custGeom>
            <a:avLst/>
            <a:gdLst/>
            <a:ahLst/>
            <a:cxnLst/>
            <a:rect r="r" b="b" t="t" l="l"/>
            <a:pathLst>
              <a:path h="7400188" w="12411216">
                <a:moveTo>
                  <a:pt x="0" y="0"/>
                </a:moveTo>
                <a:lnTo>
                  <a:pt x="12411217" y="0"/>
                </a:lnTo>
                <a:lnTo>
                  <a:pt x="12411217" y="7400188"/>
                </a:lnTo>
                <a:lnTo>
                  <a:pt x="0" y="7400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57250" y="857250"/>
            <a:ext cx="17402404" cy="72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Reconstitution Documentaire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86750" y="4139136"/>
            <a:ext cx="1714500" cy="85725"/>
            <a:chOff x="0" y="0"/>
            <a:chExt cx="22860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D00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03108" y="4643961"/>
            <a:ext cx="14281785" cy="105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6750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Exploitation des Métadonnées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86250" y="5782199"/>
            <a:ext cx="9715500" cy="79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2925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Création du Benchmark via la structure et la géographie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743075"/>
            <a:ext cx="16573500" cy="42862"/>
            <a:chOff x="0" y="0"/>
            <a:chExt cx="220980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CD003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5393531"/>
            <a:ext cx="185738" cy="300038"/>
            <a:chOff x="0" y="0"/>
            <a:chExt cx="247650" cy="400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7050881"/>
            <a:ext cx="185738" cy="300038"/>
            <a:chOff x="0" y="0"/>
            <a:chExt cx="24765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8251031"/>
            <a:ext cx="185738" cy="300038"/>
            <a:chOff x="0" y="0"/>
            <a:chExt cx="247650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477690" y="1890712"/>
            <a:ext cx="4998730" cy="7840950"/>
          </a:xfrm>
          <a:custGeom>
            <a:avLst/>
            <a:gdLst/>
            <a:ahLst/>
            <a:cxnLst/>
            <a:rect r="r" b="b" t="t" l="l"/>
            <a:pathLst>
              <a:path h="7840950" w="4998730">
                <a:moveTo>
                  <a:pt x="0" y="0"/>
                </a:moveTo>
                <a:lnTo>
                  <a:pt x="4998730" y="0"/>
                </a:lnTo>
                <a:lnTo>
                  <a:pt x="4998730" y="7840951"/>
                </a:lnTo>
                <a:lnTo>
                  <a:pt x="0" y="7840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7250" y="2821781"/>
            <a:ext cx="8326041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b="true" sz="3375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Concevoir des requêtes complexes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3483769"/>
            <a:ext cx="7929562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La documentation SNCF est fortement ancrée géographiquement (Lyon, Paris...) et strictement structurée par articles réglementaires.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875" y="5212556"/>
            <a:ext cx="7500938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Multi-Sources :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Poser des questions croisées (ex: Lyon vs Chambéry) pour forcer le RAG à récupérer et fusionner plusieurs documents.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875" y="6869906"/>
            <a:ext cx="750093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 Anti-Hallucination :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Utiliser les articles marqués "Réservé" pour générer des questions pièges.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5875" y="8070056"/>
            <a:ext cx="750093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Évaluer le rejet d'une affirmation inventée par le LLM.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" y="857250"/>
            <a:ext cx="17402175" cy="78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Structure &amp; Géographie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86750" y="4139136"/>
            <a:ext cx="1714500" cy="85725"/>
            <a:chOff x="0" y="0"/>
            <a:chExt cx="22860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D003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58064" y="4643961"/>
            <a:ext cx="14971871" cy="1052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6750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"Stress-Test" Terminologique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57738" y="5782199"/>
            <a:ext cx="8772525" cy="79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sz="2925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Cartographie du bruit et ambiguïté des acronymes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57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743075"/>
            <a:ext cx="16573500" cy="42862"/>
            <a:chOff x="0" y="0"/>
            <a:chExt cx="22098000" cy="57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57150"/>
            </a:xfrm>
            <a:custGeom>
              <a:avLst/>
              <a:gdLst/>
              <a:ahLst/>
              <a:cxnLst/>
              <a:rect r="r" b="b" t="t" l="l"/>
              <a:pathLst>
                <a:path h="571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CD003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7250" y="5164931"/>
            <a:ext cx="185738" cy="300038"/>
            <a:chOff x="0" y="0"/>
            <a:chExt cx="247650" cy="4000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6365081"/>
            <a:ext cx="185738" cy="300038"/>
            <a:chOff x="0" y="0"/>
            <a:chExt cx="24765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7565231"/>
            <a:ext cx="185738" cy="300038"/>
            <a:chOff x="0" y="0"/>
            <a:chExt cx="247650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47650" cy="400050"/>
            </a:xfrm>
            <a:custGeom>
              <a:avLst/>
              <a:gdLst/>
              <a:ahLst/>
              <a:cxnLst/>
              <a:rect r="r" b="b" t="t" l="l"/>
              <a:pathLst>
                <a:path h="4000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034462" y="2439286"/>
            <a:ext cx="8706492" cy="6954310"/>
          </a:xfrm>
          <a:custGeom>
            <a:avLst/>
            <a:gdLst/>
            <a:ahLst/>
            <a:cxnLst/>
            <a:rect r="r" b="b" t="t" l="l"/>
            <a:pathLst>
              <a:path h="6954310" w="8706492">
                <a:moveTo>
                  <a:pt x="0" y="0"/>
                </a:moveTo>
                <a:lnTo>
                  <a:pt x="8706492" y="0"/>
                </a:lnTo>
                <a:lnTo>
                  <a:pt x="8706492" y="6954310"/>
                </a:lnTo>
                <a:lnTo>
                  <a:pt x="0" y="6954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7250" y="2593181"/>
            <a:ext cx="8326041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b="true" sz="3375">
                <a:solidFill>
                  <a:srgbClr val="1E29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Modélisation de l'ambiguïté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3255169"/>
            <a:ext cx="7929562" cy="157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Nous avons modélisé la complexité du vocabulaire en croisant </a:t>
            </a: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fréquence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polysémie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et le </a:t>
            </a: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bruit induit par les options fausses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5875" y="4983956"/>
            <a:ext cx="750093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47556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Cibler les "Pires Cas" :</a:t>
            </a: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Identifier les acronymes à forte polysémie et fort bruit (ex: AC, EM).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875" y="6184106"/>
            <a:ext cx="750093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Pousser le module de recherche (Retriever) à la faute sémantique.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5875" y="7384256"/>
            <a:ext cx="7500938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Vérifier que le module d'Attribution final rejette formellement la réponse si la mauvaise définition est utilisée.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" y="857250"/>
            <a:ext cx="17402175" cy="785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725">
                <a:solidFill>
                  <a:srgbClr val="0088C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Cibler les limites de l'Attribution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DAHJR7HOneY</dc:identifier>
  <dcterms:modified xsi:type="dcterms:W3CDTF">2011-08-01T06:04:30Z</dcterms:modified>
  <cp:revision>1</cp:revision>
  <dc:title>Analyse du Corpus SNCF.pptx</dc:title>
</cp:coreProperties>
</file>